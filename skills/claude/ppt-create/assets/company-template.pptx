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8"/>
    <p:sldId id="262" r:id="rId16"/>
    <p:sldId id="263" r:id="rId7"/>
    <p:sldId id="264" r:id="rId17"/>
    <p:sldId id="265" r:id="rId9"/>
    <p:sldId id="266" r:id="rId10"/>
  </p:sldIdLst>
  <p:notesMasterIdLst>
    <p:notesMasterId r:id="rId11"/>
  </p:notesMasterIdLst>
  <p:sldSz cx="9907158" cy="6858000"/>
  <p:notesSz cx="6858000" cy="990715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아이브로우는 영문 대문자 1행. 타이틀은 2행 이내. 날짜·조직명 위치 고정.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간지: 로마숫자 또는 01·02 형식. 하위 목차는 3~5개까지만.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W_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35973"/>
            <a:ext cx="9907158" cy="50383"/>
          </a:xfrm>
          <a:prstGeom prst="rect">
            <a:avLst/>
          </a:prstGeom>
          <a:solidFill>
            <a:srgbClr val="298C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86356"/>
            <a:ext cx="9907158" cy="2271644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4" name="Image 0" descr="/home/claude/assets/logo/marineworks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636" y="6472763"/>
            <a:ext cx="935980" cy="1897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13626" y="6465631"/>
            <a:ext cx="1079998" cy="21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W_목차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/marineworks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636" y="6472763"/>
            <a:ext cx="935980" cy="1897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13626" y="6465631"/>
            <a:ext cx="1079998" cy="21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W_간지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95976"/>
            <a:ext cx="9907158" cy="36027"/>
          </a:xfrm>
          <a:prstGeom prst="rect">
            <a:avLst/>
          </a:prstGeom>
          <a:solidFill>
            <a:srgbClr val="298CEF"/>
          </a:solidFill>
          <a:ln/>
        </p:spPr>
      </p:sp>
      <p:pic>
        <p:nvPicPr>
          <p:cNvPr id="3" name="Image 0" descr="/home/claude/assets/logo/marineworks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636" y="6472763"/>
            <a:ext cx="935980" cy="1897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13626" y="6465631"/>
            <a:ext cx="1079998" cy="21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W_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1962"/>
            <a:ext cx="9907158" cy="518373"/>
          </a:xfrm>
          <a:prstGeom prst="rect">
            <a:avLst/>
          </a:prstGeom>
          <a:solidFill>
            <a:srgbClr val="0D5EAF"/>
          </a:solidFill>
          <a:ln/>
        </p:spPr>
      </p:sp>
      <p:sp>
        <p:nvSpPr>
          <p:cNvPr id="3" name="Shape 1"/>
          <p:cNvSpPr/>
          <p:nvPr/>
        </p:nvSpPr>
        <p:spPr>
          <a:xfrm>
            <a:off x="453634" y="6371996"/>
            <a:ext cx="8999982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pic>
        <p:nvPicPr>
          <p:cNvPr id="4" name="Image 0" descr="/home/claude/assets/logo/marinework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636" y="6472763"/>
            <a:ext cx="935980" cy="1897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13626" y="6465631"/>
            <a:ext cx="1079998" cy="21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W_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91958"/>
            <a:ext cx="9907158" cy="1511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04010"/>
            <a:ext cx="9907158" cy="50383"/>
          </a:xfrm>
          <a:prstGeom prst="rect">
            <a:avLst/>
          </a:prstGeom>
          <a:solidFill>
            <a:srgbClr val="298CEF"/>
          </a:solidFill>
          <a:ln/>
        </p:spPr>
      </p:sp>
      <p:pic>
        <p:nvPicPr>
          <p:cNvPr id="4" name="Image 0" descr="/home/claude/assets/logo/marinework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636" y="6472763"/>
            <a:ext cx="935980" cy="1897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13626" y="6465631"/>
            <a:ext cx="1079998" cy="21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13626" y="6465631"/>
            <a:ext cx="1079998" cy="21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1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ver/cover-defa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8026" y="795619"/>
            <a:ext cx="4356019" cy="29483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3634" y="1511960"/>
            <a:ext cx="464396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0D5EA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PRESENTATION STANDARD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3634" y="1889973"/>
            <a:ext cx="648035" cy="43160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3634" y="2123968"/>
            <a:ext cx="4643963" cy="187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2800" dirty="0">
                <a:solidFill>
                  <a:srgbClr val="1B2A4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기술개발실</a:t>
            </a:r>
            <a:endParaRPr lang="en-US" sz="28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2800" dirty="0">
                <a:solidFill>
                  <a:srgbClr val="1B2A4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표준 발표자료 템플릿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3634" y="4031955"/>
            <a:ext cx="4643963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9개 장표 유형 · 4-Zone 그리드 · 공용 도해 라이브러리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3634" y="4877958"/>
            <a:ext cx="4319991" cy="30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4F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- 2026. 07 -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33624" y="4877958"/>
            <a:ext cx="4319991" cy="30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기술개발실  ·  [담당자명]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634" y="791962"/>
            <a:ext cx="4319991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59992" y="791962"/>
            <a:ext cx="5493624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E4F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기술개발실 표준 발표자료 템플릿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3634" y="1242030"/>
            <a:ext cx="791962" cy="43160"/>
          </a:xfrm>
          <a:prstGeom prst="rect">
            <a:avLst/>
          </a:prstGeom>
          <a:solidFill>
            <a:srgbClr val="298C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3634" y="1655978"/>
            <a:ext cx="935980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47988" y="1655978"/>
            <a:ext cx="7905628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디자인 기준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47988" y="2141982"/>
            <a:ext cx="7905628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그리드와 여백    ·    컬러 토큰    ·    타이포 위계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3634" y="2772004"/>
            <a:ext cx="8999982" cy="10790"/>
          </a:xfrm>
          <a:prstGeom prst="rect">
            <a:avLst/>
          </a:prstGeom>
          <a:solidFill>
            <a:srgbClr val="1C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634" y="3060040"/>
            <a:ext cx="935980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47988" y="3060040"/>
            <a:ext cx="7905628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작성 절차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47988" y="3546043"/>
            <a:ext cx="7905628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기획 · 구조 설계    ·    AI 프롬프트 입력    ·    초안 생성    ·    검수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3634" y="4175973"/>
            <a:ext cx="8999982" cy="10790"/>
          </a:xfrm>
          <a:prstGeom prst="rect">
            <a:avLst/>
          </a:prstGeom>
          <a:solidFill>
            <a:srgbClr val="1C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634" y="4464009"/>
            <a:ext cx="935980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Ⅲ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47988" y="4464009"/>
            <a:ext cx="7905628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적용과 운영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47988" y="4950013"/>
            <a:ext cx="7905628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목표 지표    ·    체크리스트    ·    버전 관리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634" y="1799996"/>
            <a:ext cx="2159996" cy="935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Ⅰ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3634" y="3276021"/>
            <a:ext cx="8999982" cy="71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디자인 기준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3634" y="4104010"/>
            <a:ext cx="8999982" cy="129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01. 그리드와 여백 규격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02. 컬러 토큰 체계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03. 타이포그래피 위계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3" y="172822"/>
            <a:ext cx="575981" cy="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D5EA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01.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2007" y="201625"/>
            <a:ext cx="4500037" cy="35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그리드 기준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3634" y="691195"/>
            <a:ext cx="8999982" cy="10790"/>
          </a:xfrm>
          <a:prstGeom prst="rect">
            <a:avLst/>
          </a:prstGeom>
          <a:solidFill>
            <a:srgbClr val="E9EC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3634" y="791962"/>
            <a:ext cx="8999982" cy="5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본문 폭 25.0cm를 3단·2단·4단으로 분할해 모든 장표의 열 위치를 통일한다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3634" y="6379220"/>
            <a:ext cx="378003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9CAA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* 좌우 여백 1.26cm · 단 간격 0.5cm 고정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3634" y="1439997"/>
            <a:ext cx="2879994" cy="4175973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5981" y="1612819"/>
            <a:ext cx="32370" cy="180045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839" y="1591239"/>
            <a:ext cx="2534442" cy="2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3단 구성 — 8.0cm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4784" y="1900763"/>
            <a:ext cx="2577602" cy="359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항목 병렬 비교의 기본값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카드·아이콘 그리드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3개 관점 제시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가장 많이 쓰이는 구성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제목 1행 + 불릿 4~6개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3582" y="1439997"/>
            <a:ext cx="2879994" cy="4175973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6020" y="1612819"/>
            <a:ext cx="32370" cy="180045"/>
          </a:xfrm>
          <a:prstGeom prst="rect">
            <a:avLst/>
          </a:prstGeom>
          <a:solidFill>
            <a:srgbClr val="18AD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6787" y="1591239"/>
            <a:ext cx="2534442" cy="2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2단 구성 — 12.25cm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64824" y="1900763"/>
            <a:ext cx="2577602" cy="359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좌 텍스트 · 우 도해 대비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Before / After 구조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As-Is / To-Be 비교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이미지 비중이 클 때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표와 설명의 병치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73622" y="1439997"/>
            <a:ext cx="2879994" cy="4175973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5968" y="1612819"/>
            <a:ext cx="32370" cy="180045"/>
          </a:xfrm>
          <a:prstGeom prst="rect">
            <a:avLst/>
          </a:prstGeom>
          <a:solidFill>
            <a:srgbClr val="F28F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6827" y="1591239"/>
            <a:ext cx="2534442" cy="2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4단 구성 — 5.875cm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4772" y="1900763"/>
            <a:ext cx="2577602" cy="359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프로세스 단계 표현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수치 콜아웃 나열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연도별 타임라인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5단 이상은 장표 분할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단별 텍스트 최소화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3634" y="5778002"/>
            <a:ext cx="8999982" cy="431963"/>
          </a:xfrm>
          <a:prstGeom prst="rect">
            <a:avLst/>
          </a:prstGeom>
          <a:solidFill>
            <a:srgbClr val="CDE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634" y="5778002"/>
            <a:ext cx="50383" cy="431963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812" y="5778002"/>
            <a:ext cx="8676010" cy="43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열 위치가 고정되면 서로 다른 사람이 만든 장표를 한 파일로 합쳐도 정렬이 어긋나지 않는다.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Text 2"/>
          <p:cNvSpPr/>
          <p:nvPr/>
        </p:nvSpPr>
        <p:spPr>
          <a:xfrm>
            <a:off x="5615970" y="107991"/>
            <a:ext cx="3837645" cy="24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5EA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Ⅰ. 디자인 기준</a:t>
            </a:r>
            <a:endParaRPr lang="en-US" sz="1100" dirty="0"/>
          </a:p>
        </p:txBody>
      </p:sp>
      <p:sp>
        <p:nvSpPr>
          <p:cNvPr id="27" name="Text 3"/>
          <p:cNvSpPr/>
          <p:nvPr/>
        </p:nvSpPr>
        <p:spPr>
          <a:xfrm>
            <a:off x="3959992" y="374355"/>
            <a:ext cx="5493624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기술개발실 표준 발표자료 템플릿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223" y="172822"/>
            <a:ext cx="575981" cy="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D5EA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02.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72007" y="201625"/>
            <a:ext cx="4500037" cy="35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컬러 토큰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15970" y="107991"/>
            <a:ext cx="3837645" cy="24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5EA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Ⅰ. 디자인 기준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59992" y="374355"/>
            <a:ext cx="5493624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기술개발실 표준 발표자료 템플릿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3634" y="691195"/>
            <a:ext cx="8999982" cy="10790"/>
          </a:xfrm>
          <a:prstGeom prst="rect">
            <a:avLst/>
          </a:prstGeom>
          <a:solidFill>
            <a:srgbClr val="E9EC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634" y="791962"/>
            <a:ext cx="8999982" cy="5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딥 네이비를 기반으로 강조는 블루, 포인트는 오렌지·틸로 제한한다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3634" y="1439997"/>
            <a:ext cx="4409968" cy="280812"/>
          </a:xfrm>
          <a:prstGeom prst="rect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0045" y="1439997"/>
            <a:ext cx="4237238" cy="28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기본 컬러 토큰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3634" y="1854037"/>
            <a:ext cx="612008" cy="367223"/>
          </a:xfrm>
          <a:prstGeom prst="rect">
            <a:avLst/>
          </a:prstGeom>
          <a:solidFill>
            <a:srgbClr val="1B2A41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3632" y="1854037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#1B2A41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13630" y="1854037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ink — 본문 텍스트 · 딥 네이비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3634" y="2365187"/>
            <a:ext cx="612008" cy="367223"/>
          </a:xfrm>
          <a:prstGeom prst="rect">
            <a:avLst/>
          </a:prstGeom>
          <a:solidFill>
            <a:srgbClr val="0B2545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3632" y="2365187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#0B2545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13630" y="2365187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navy — 표지 · 간지 배경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3634" y="2876428"/>
            <a:ext cx="612008" cy="367223"/>
          </a:xfrm>
          <a:prstGeom prst="rect">
            <a:avLst/>
          </a:prstGeom>
          <a:solidFill>
            <a:srgbClr val="0D5EA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3632" y="2876428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#0D5EAF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13630" y="2876428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primary — 메시지 바 · 주강조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3634" y="3387578"/>
            <a:ext cx="612008" cy="367223"/>
          </a:xfrm>
          <a:prstGeom prst="rect">
            <a:avLst/>
          </a:prstGeom>
          <a:solidFill>
            <a:srgbClr val="298CE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3632" y="3387578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#298CEF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13630" y="3387578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sky — 보조 강조 · 라인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3634" y="3898819"/>
            <a:ext cx="612008" cy="367223"/>
          </a:xfrm>
          <a:prstGeom prst="rect">
            <a:avLst/>
          </a:prstGeom>
          <a:solidFill>
            <a:srgbClr val="CDE4FB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73632" y="3898819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#CDE4FB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613630" y="3898819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sky50 — 요약 바 · 연배경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3634" y="4409968"/>
            <a:ext cx="612008" cy="367223"/>
          </a:xfrm>
          <a:prstGeom prst="rect">
            <a:avLst/>
          </a:prstGeom>
          <a:solidFill>
            <a:srgbClr val="8C9CA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3632" y="4409968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#8C9CAA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613630" y="4409968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gray — 캡션 · 푸터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3634" y="4921209"/>
            <a:ext cx="612008" cy="367223"/>
          </a:xfrm>
          <a:prstGeom prst="rect">
            <a:avLst/>
          </a:prstGeom>
          <a:solidFill>
            <a:srgbClr val="E9ECE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73632" y="4921209"/>
            <a:ext cx="1368034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#E9ECEF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613630" y="4921209"/>
            <a:ext cx="2249973" cy="36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line — 구분선 · 카드 테두리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43556" y="1439997"/>
            <a:ext cx="4409968" cy="280812"/>
          </a:xfrm>
          <a:prstGeom prst="rect">
            <a:avLst/>
          </a:prstGeom>
          <a:solidFill>
            <a:srgbClr val="F28F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9967" y="1439997"/>
            <a:ext cx="4237238" cy="28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 원칙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043556" y="1854037"/>
            <a:ext cx="4409968" cy="3762024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65994" y="2026768"/>
            <a:ext cx="32370" cy="180045"/>
          </a:xfrm>
          <a:prstGeom prst="rect">
            <a:avLst/>
          </a:prstGeom>
          <a:solidFill>
            <a:srgbClr val="F28F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66761" y="2005188"/>
            <a:ext cx="4064417" cy="2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포인트 컬러는 장표당 1종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194798" y="2314804"/>
            <a:ext cx="4107576" cy="318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오렌지는 리스크 · 주의 · 핵심 수치에 한정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틸은 To-Be · 개선안 표기에 사용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형광 노랑과 순수 검정은 사용하지 않는다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이미지 위 텍스트는 흰색 + 네이비 오버레이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표 헤더는 ink, 짝수 행은 bgSoft 고정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그래프 계열색은 primary → sky → sky50 순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장표 배경은 흰색이 기본이며 톤 배경은 금지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3634" y="5778002"/>
            <a:ext cx="8999982" cy="431963"/>
          </a:xfrm>
          <a:prstGeom prst="rect">
            <a:avLst/>
          </a:prstGeom>
          <a:solidFill>
            <a:srgbClr val="CDE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3634" y="5778002"/>
            <a:ext cx="50383" cy="431963"/>
          </a:xfrm>
          <a:prstGeom prst="rect">
            <a:avLst/>
          </a:prstGeom>
          <a:solidFill>
            <a:srgbClr val="F28F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812" y="5778002"/>
            <a:ext cx="8676010" cy="43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색은 의미를 나르는 신호다. 장식으로 색을 쓰기 시작하면 강조가 사라진다.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223" y="172822"/>
            <a:ext cx="575981" cy="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D5EA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01.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72007" y="201625"/>
            <a:ext cx="4500037" cy="35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작성 절차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15970" y="107991"/>
            <a:ext cx="3837645" cy="24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5EA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Ⅱ. 작성 절차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59992" y="374355"/>
            <a:ext cx="5493624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기술개발실 표준 발표자료 템플릿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3634" y="691195"/>
            <a:ext cx="8999982" cy="10790"/>
          </a:xfrm>
          <a:prstGeom prst="rect">
            <a:avLst/>
          </a:prstGeom>
          <a:solidFill>
            <a:srgbClr val="E9EC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634" y="791962"/>
            <a:ext cx="8999982" cy="5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기획 → 구조 설계 → 초안 생성 → 검수의 4단계로 제작 과정을 표준화한다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3634" y="1980042"/>
            <a:ext cx="2115007" cy="3581979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634" y="1980042"/>
            <a:ext cx="2115007" cy="259232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1624" y="1980042"/>
            <a:ext cx="1899026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1624" y="2311237"/>
            <a:ext cx="1899026" cy="25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기획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1624" y="2591958"/>
            <a:ext cx="1899026" cy="28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목적 · 청중 · 분량을 먼저 확정한다. 장표 수는 발표 1분당 1장을 기준으로 산정한다.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75773" y="3662995"/>
            <a:ext cx="165598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8595" y="1980042"/>
            <a:ext cx="2115007" cy="3581979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8595" y="1980042"/>
            <a:ext cx="2115007" cy="259232"/>
          </a:xfrm>
          <a:prstGeom prst="rect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56586" y="1980042"/>
            <a:ext cx="1899026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856586" y="2311237"/>
            <a:ext cx="1899026" cy="25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구조 설계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856586" y="2591958"/>
            <a:ext cx="1899026" cy="28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챕터를 3~5개로 나눈다. 각 장표의 핵심 메시지 한 문장을 본문보다 먼저 쓴다.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70826" y="3662995"/>
            <a:ext cx="165598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43556" y="1980042"/>
            <a:ext cx="2115007" cy="3581979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43556" y="1980042"/>
            <a:ext cx="2115007" cy="259232"/>
          </a:xfrm>
          <a:prstGeom prst="rect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51638" y="1980042"/>
            <a:ext cx="1899026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51638" y="2311237"/>
            <a:ext cx="1899026" cy="25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초안 생성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51638" y="2591958"/>
            <a:ext cx="1899026" cy="28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확정한 구조를 AI 프롬프트에 입력해 표준 레이아웃 기반 초안을 자동 생성한다.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65787" y="3662995"/>
            <a:ext cx="165598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38609" y="1980042"/>
            <a:ext cx="2115007" cy="3581979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38609" y="1980042"/>
            <a:ext cx="2115007" cy="259232"/>
          </a:xfrm>
          <a:prstGeom prst="rect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46599" y="1980042"/>
            <a:ext cx="1899026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46599" y="2311237"/>
            <a:ext cx="1899026" cy="25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검수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46599" y="2591958"/>
            <a:ext cx="1899026" cy="28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메시지 문장 · 최소 폰트 9pt · 여백 1.26cm 준수 여부를 체크리스트로 확인한다.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3634" y="1439997"/>
            <a:ext cx="8999982" cy="280812"/>
          </a:xfrm>
          <a:prstGeom prst="rect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0045" y="1439997"/>
            <a:ext cx="8827160" cy="28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원칙 — 메시지가 레이아웃보다 먼저다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3634" y="5778002"/>
            <a:ext cx="8999982" cy="431963"/>
          </a:xfrm>
          <a:prstGeom prst="rect">
            <a:avLst/>
          </a:prstGeom>
          <a:solidFill>
            <a:srgbClr val="CDE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3634" y="5778002"/>
            <a:ext cx="50383" cy="431963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812" y="5778002"/>
            <a:ext cx="8676010" cy="43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메시지 한 문장을 먼저 쓰면 그 장표에 무엇이 들어가야 하는지가 자동으로 정해진다.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223" y="172822"/>
            <a:ext cx="575981" cy="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D5EA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03.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72007" y="201625"/>
            <a:ext cx="4500037" cy="35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타이포 위계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3634" y="691195"/>
            <a:ext cx="8999982" cy="10790"/>
          </a:xfrm>
          <a:prstGeom prst="rect">
            <a:avLst/>
          </a:prstGeom>
          <a:solidFill>
            <a:srgbClr val="E9EC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3634" y="791962"/>
            <a:ext cx="8999982" cy="5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본문 10pt를 기준선으로 4단 위계를 유지하고 9pt 미만은 사용하지 않는다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3634" y="6379220"/>
            <a:ext cx="378003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9CAA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* 국문 페이퍼로지 · 영문 Pretendard 외 금지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3634" y="1547988"/>
          <a:ext cx="8999982" cy="914400"/>
        </p:xfrm>
        <a:graphic>
          <a:graphicData uri="http://schemas.openxmlformats.org/drawingml/2006/table">
            <a:tbl>
              <a:tblPr/>
              <a:tblGrid>
                <a:gridCol w="1295979"/>
                <a:gridCol w="2304014"/>
                <a:gridCol w="1079998"/>
                <a:gridCol w="1439997"/>
                <a:gridCol w="2879994"/>
              </a:tblGrid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서체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크기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색상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용도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표지 타이틀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8 ExtraBold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28pt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ink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표지 1행 (2행 이내)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간지 제목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8 ExtraBold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40pt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White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챕터 구분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헤더 번호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6 SemiBold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24pt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primary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좌상단 번호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헤더 소주제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6 SemiBold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18pt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ink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좌상단 소주제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핵심 메시지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7 Bold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19pt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White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메시지 바 1문장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소제목 칩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6 SemiBold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13pt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White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본문 영역 구획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본문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4 Regular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10pt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grayDk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불릿 · 설명문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캡션 · 출처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페이퍼로지 4 Regular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9pt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gray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B"/>
                          </a:solidFill>
                          <a:latin typeface="페이퍼로지 4 Regular" pitchFamily="34" charset="0"/>
                          <a:ea typeface="페이퍼로지 4 Regular" pitchFamily="34" charset="-122"/>
                          <a:cs typeface="페이퍼로지 4 Regular" pitchFamily="34" charset="-120"/>
                        </a:rPr>
                        <a:t>푸터 · 주석 (최소값)</a:t>
                      </a:r>
                      <a:endParaRPr lang="en-US" sz="1000" dirty="0">
                        <a:latin typeface="페이퍼로지 4 Regular" charset="0"/>
                        <a:ea typeface="페이퍼로지 4 Regular" charset="0"/>
                        <a:cs typeface="페이퍼로지 4 Regular" charset="0"/>
                      </a:endParaRPr>
                    </a:p>
                  </a:txBody>
                  <a:tcPr marL="79187" marR="79187" marT="36027" marB="36027" anchor="ctr">
                    <a:lnL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3634" y="5778002"/>
            <a:ext cx="8999982" cy="431963"/>
          </a:xfrm>
          <a:prstGeom prst="rect">
            <a:avLst/>
          </a:prstGeom>
          <a:solidFill>
            <a:srgbClr val="CDE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3634" y="5778002"/>
            <a:ext cx="50383" cy="431963"/>
          </a:xfrm>
          <a:prstGeom prst="rect">
            <a:avLst/>
          </a:prstGeom>
          <a:solidFill>
            <a:srgbClr val="F28F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812" y="5778002"/>
            <a:ext cx="8676010" cy="43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기존 자료에는 5~7pt 텍스트가 191회 등장했다. 인쇄 배포를 전제로 9pt를 하한선으로 고정한다.</a:t>
            </a:r>
            <a:endParaRPr lang="en-US" sz="110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13" name="Text 2"/>
          <p:cNvSpPr/>
          <p:nvPr/>
        </p:nvSpPr>
        <p:spPr>
          <a:xfrm>
            <a:off x="5615970" y="107991"/>
            <a:ext cx="3837645" cy="24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5EA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Ⅰ. 디자인 기준</a:t>
            </a:r>
            <a:endParaRPr lang="en-US" sz="1100" dirty="0"/>
          </a:p>
        </p:txBody>
      </p:sp>
      <p:sp>
        <p:nvSpPr>
          <p:cNvPr id="14" name="Text 3"/>
          <p:cNvSpPr/>
          <p:nvPr/>
        </p:nvSpPr>
        <p:spPr>
          <a:xfrm>
            <a:off x="3959992" y="374355"/>
            <a:ext cx="5493624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기술개발실 표준 발표자료 템플릿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223" y="172822"/>
            <a:ext cx="575981" cy="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D5EA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01.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72007" y="201625"/>
            <a:ext cx="4500037" cy="35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적용 목표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3634" y="691195"/>
            <a:ext cx="8999982" cy="10790"/>
          </a:xfrm>
          <a:prstGeom prst="rect">
            <a:avLst/>
          </a:prstGeom>
          <a:solidFill>
            <a:srgbClr val="E9EC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3634" y="791962"/>
            <a:ext cx="8999982" cy="5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페이퍼로지 7 Bold" pitchFamily="34" charset="0"/>
                <a:ea typeface="페이퍼로지 7 Bold" pitchFamily="34" charset="-122"/>
                <a:cs typeface="페이퍼로지 7 Bold" pitchFamily="34" charset="-120"/>
              </a:rPr>
              <a:t>제작 시간과 디자인 편차를 동시에 줄이는 것이 표준화의 목적이다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3634" y="6379220"/>
            <a:ext cx="378003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9CAA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* 목표 수치이며 v1 적용 후 실측하여 갱신한다.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3634" y="1439997"/>
            <a:ext cx="8999982" cy="280812"/>
          </a:xfrm>
          <a:prstGeom prst="rect">
            <a:avLst/>
          </a:prstGeom>
          <a:solidFill>
            <a:srgbClr val="1B2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045" y="1439997"/>
            <a:ext cx="8827160" cy="28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 지표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3634" y="1907987"/>
            <a:ext cx="2115007" cy="176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0D5E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634" y="2030425"/>
            <a:ext cx="2115007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D5EA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-60</a:t>
            </a:r>
            <a:pPr algn="ctr" indent="0" marL="0">
              <a:buNone/>
            </a:pPr>
            <a:r>
              <a:rPr lang="en-US" sz="1300" dirty="0">
                <a:solidFill>
                  <a:srgbClr val="0D5EAF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 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597" y="3294035"/>
            <a:ext cx="1970989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장표 1장당 제작 시간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8595" y="1907987"/>
            <a:ext cx="2115007" cy="176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18AD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8595" y="2030425"/>
            <a:ext cx="2115007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8AD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</a:t>
            </a:r>
            <a:pPr algn="ctr" indent="0" marL="0">
              <a:buNone/>
            </a:pPr>
            <a:r>
              <a:rPr lang="en-US" sz="1300" dirty="0">
                <a:solidFill>
                  <a:srgbClr val="18ADA6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 종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820558" y="3294035"/>
            <a:ext cx="1970989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표준 장표 유형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43556" y="1907987"/>
            <a:ext cx="2115007" cy="176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3556" y="2030425"/>
            <a:ext cx="2115007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B2A4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 종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115611" y="3294035"/>
            <a:ext cx="1970989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허용 서체 (국문 · 영문)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38609" y="1907987"/>
            <a:ext cx="2115007" cy="176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F28F0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38609" y="2030425"/>
            <a:ext cx="2115007" cy="46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8F0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pPr algn="ctr" indent="0" marL="0">
              <a:buNone/>
            </a:pPr>
            <a:r>
              <a:rPr lang="en-US" sz="1300" dirty="0">
                <a:solidFill>
                  <a:srgbClr val="F28F0C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 개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410572" y="3294035"/>
            <a:ext cx="1970989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페이퍼로지 5 Medium" pitchFamily="34" charset="0"/>
                <a:ea typeface="페이퍼로지 5 Medium" pitchFamily="34" charset="-122"/>
                <a:cs typeface="페이퍼로지 5 Medium" pitchFamily="34" charset="-120"/>
              </a:rPr>
              <a:t>장표당 핵심 메시지 문장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3634" y="3815974"/>
            <a:ext cx="8999982" cy="1799996"/>
          </a:xfrm>
          <a:prstGeom prst="rect">
            <a:avLst/>
          </a:prstGeom>
          <a:solidFill>
            <a:srgbClr val="F5F7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5981" y="3988796"/>
            <a:ext cx="32370" cy="180045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839" y="3967216"/>
            <a:ext cx="8654430" cy="2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제출 전 검수 체크리스트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4784" y="4276832"/>
            <a:ext cx="8697590" cy="122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메시지 바에 완결된 한 문장이 들어갔는가 — 명사 나열은 반려 대상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좌우 여백 1.26cm, 단 간격 0.5cm를 지켰는가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9pt 미만 텍스트, 페이퍼로지 · Pretendard 외 서체가 섞이지 않았는가</a:t>
            </a:r>
            <a:endParaRPr lang="en-US" sz="1000" dirty="0"/>
          </a:p>
          <a:p>
            <a:pPr marL="342900" indent="-342900">
              <a:lnSpc>
                <a:spcPct val="13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한 장표에 포인트 컬러가 2종 이상 쓰이지 않았는가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3634" y="5778002"/>
            <a:ext cx="8999982" cy="431963"/>
          </a:xfrm>
          <a:prstGeom prst="rect">
            <a:avLst/>
          </a:prstGeom>
          <a:solidFill>
            <a:srgbClr val="CDE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3634" y="5778002"/>
            <a:ext cx="50383" cy="431963"/>
          </a:xfrm>
          <a:prstGeom prst="rect">
            <a:avLst/>
          </a:prstGeom>
          <a:solidFill>
            <a:srgbClr val="0D5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812" y="5778002"/>
            <a:ext cx="8676010" cy="43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체크리스트 4개 항목은 기존 3개 자료에서 실제로 편차가 가장 컸던 지점이다.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30" name="Text 2"/>
          <p:cNvSpPr/>
          <p:nvPr/>
        </p:nvSpPr>
        <p:spPr>
          <a:xfrm>
            <a:off x="5615970" y="107991"/>
            <a:ext cx="3837645" cy="244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5EA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Ⅲ. 적용과 운영</a:t>
            </a:r>
            <a:endParaRPr lang="en-US" sz="1100" dirty="0"/>
          </a:p>
        </p:txBody>
      </p:sp>
      <p:sp>
        <p:nvSpPr>
          <p:cNvPr id="31" name="Text 3"/>
          <p:cNvSpPr/>
          <p:nvPr/>
        </p:nvSpPr>
        <p:spPr>
          <a:xfrm>
            <a:off x="3959992" y="374355"/>
            <a:ext cx="5493624" cy="21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9CA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기술개발실 표준 발표자료 템플릿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91958"/>
            <a:ext cx="9907158" cy="151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4535973"/>
            <a:ext cx="9907158" cy="35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기술개발실  ·  [담당자명]  |  [연락처]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CAA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634" y="1799996"/>
            <a:ext cx="2159996" cy="935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Ⅱ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3634" y="3276021"/>
            <a:ext cx="8999982" cy="71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작성 절차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3634" y="4104010"/>
            <a:ext cx="8999982" cy="129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01. 기획 · 구조 설계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02. AI 프롬프트 입력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03. 초안 생성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04. 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634" y="1799996"/>
            <a:ext cx="2159996" cy="935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298CE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Ⅲ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3634" y="3276021"/>
            <a:ext cx="8999982" cy="71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적용과 운영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3634" y="4104010"/>
            <a:ext cx="8999982" cy="129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01. 목표 지표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02. 검수 체크리스트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DE4F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03. 버전 관리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DE4FB"/>
                </a:solidFill>
                <a:latin typeface="페이퍼로지 5 Medium"/>
                <a:ea typeface="페이퍼로지 5 Medium"/>
                <a:cs typeface="페이퍼로지 5 Medium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기술개발실 표준 발표자료 템플릿 v1</dc:title>
  <dc:subject>PptxGenJS Presentation</dc:subject>
  <dc:creator>기술개발실(주)</dc:creator>
  <cp:lastModifiedBy>기술개발실(주)</cp:lastModifiedBy>
  <cp:revision>1</cp:revision>
  <dcterms:created xsi:type="dcterms:W3CDTF">2026-08-04T05:20:01Z</dcterms:created>
  <dcterms:modified xsi:type="dcterms:W3CDTF">2026-08-04T05:20:01Z</dcterms:modified>
</cp:coreProperties>
</file>